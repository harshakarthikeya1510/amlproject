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AML PROJECT  ·  CSAI STUDENT PROJECT 5  ·  SECTION 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500" b="1">
                <a:solidFill>
                  <a:srgbClr val="FFFFFF"/>
                </a:solidFill>
              </a:defRPr>
            </a:pPr>
            <a:r>
              <a:t>How many units</a:t>
            </a:r>
            <a:br/>
            <a:r>
              <a:t>will sell next month?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94A3B8"/>
                </a:solidFill>
              </a:defRPr>
            </a:pPr>
            <a:r>
              <a:t>Predicting 28-day retail inventory demand across intermittent SKU histories</a:t>
            </a:r>
            <a:br/>
            <a:r>
              <a:t>using Kalman Filters and Global DeepAR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2039112" cy="132588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Dakarapu Hemamdhar Nath</a:t>
            </a:r>
          </a:p>
          <a:p>
            <a:pPr>
              <a:spcBef>
                <a:spcPts val="200"/>
              </a:spcBef>
              <a:defRPr sz="1000">
                <a:solidFill>
                  <a:srgbClr val="F59E0B"/>
                </a:solidFill>
              </a:defRPr>
            </a:pPr>
            <a:r>
              <a:t>2401010137</a:t>
            </a:r>
          </a:p>
          <a:p>
            <a:pPr>
              <a:spcBef>
                <a:spcPts val="400"/>
              </a:spcBef>
              <a:defRPr sz="950" b="1">
                <a:solidFill>
                  <a:srgbClr val="06B6D4"/>
                </a:solidFill>
              </a:defRPr>
            </a:pPr>
            <a:r>
              <a:t>Data Cleaning &amp; EDA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4572000"/>
            <a:ext cx="2039112" cy="132588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Palaparthi Harshakarthikeya</a:t>
            </a:r>
          </a:p>
          <a:p>
            <a:pPr>
              <a:spcBef>
                <a:spcPts val="200"/>
              </a:spcBef>
              <a:defRPr sz="1000">
                <a:solidFill>
                  <a:srgbClr val="F59E0B"/>
                </a:solidFill>
              </a:defRPr>
            </a:pPr>
            <a:r>
              <a:t>2401010313</a:t>
            </a:r>
          </a:p>
          <a:p>
            <a:pPr>
              <a:spcBef>
                <a:spcPts val="400"/>
              </a:spcBef>
              <a:defRPr sz="950" b="1">
                <a:solidFill>
                  <a:srgbClr val="06B6D4"/>
                </a:solidFill>
              </a:defRPr>
            </a:pPr>
            <a:r>
              <a:t>Feature Eng. &amp; Baselines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4572000"/>
            <a:ext cx="2039112" cy="132588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Sameer Alam Khan</a:t>
            </a:r>
          </a:p>
          <a:p>
            <a:pPr>
              <a:spcBef>
                <a:spcPts val="200"/>
              </a:spcBef>
              <a:defRPr sz="1000">
                <a:solidFill>
                  <a:srgbClr val="F59E0B"/>
                </a:solidFill>
              </a:defRPr>
            </a:pPr>
            <a:r>
              <a:t>2401020054</a:t>
            </a:r>
          </a:p>
          <a:p>
            <a:pPr>
              <a:spcBef>
                <a:spcPts val="400"/>
              </a:spcBef>
              <a:defRPr sz="950" b="1">
                <a:solidFill>
                  <a:srgbClr val="06B6D4"/>
                </a:solidFill>
              </a:defRPr>
            </a:pPr>
            <a:r>
              <a:t>Kalman Filter per SKU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4572000"/>
            <a:ext cx="2039112" cy="132588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Akshay Y</a:t>
            </a:r>
          </a:p>
          <a:p>
            <a:pPr>
              <a:spcBef>
                <a:spcPts val="200"/>
              </a:spcBef>
              <a:defRPr sz="1000">
                <a:solidFill>
                  <a:srgbClr val="F59E0B"/>
                </a:solidFill>
              </a:defRPr>
            </a:pPr>
            <a:r>
              <a:t>2401020008</a:t>
            </a:r>
          </a:p>
          <a:p>
            <a:pPr>
              <a:spcBef>
                <a:spcPts val="400"/>
              </a:spcBef>
              <a:defRPr sz="950" b="1">
                <a:solidFill>
                  <a:srgbClr val="06B6D4"/>
                </a:solidFill>
              </a:defRPr>
            </a:pPr>
            <a:r>
              <a:t>Global DeepAR Forecaster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4572000"/>
            <a:ext cx="2039112" cy="132588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Abhishek Tripathi</a:t>
            </a:r>
          </a:p>
          <a:p>
            <a:pPr>
              <a:spcBef>
                <a:spcPts val="200"/>
              </a:spcBef>
              <a:defRPr sz="1000">
                <a:solidFill>
                  <a:srgbClr val="F59E0B"/>
                </a:solidFill>
              </a:defRPr>
            </a:pPr>
            <a:r>
              <a:t>2401010022</a:t>
            </a:r>
          </a:p>
          <a:p>
            <a:pPr>
              <a:spcBef>
                <a:spcPts val="400"/>
              </a:spcBef>
              <a:defRPr sz="950" b="1">
                <a:solidFill>
                  <a:srgbClr val="06B6D4"/>
                </a:solidFill>
              </a:defRPr>
            </a:pPr>
            <a:r>
              <a:t>Benchmark &amp;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26414"/>
                </a:solidFill>
              </a:defRPr>
            </a:pPr>
            <a:r>
              <a:t>01 · 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B82F6"/>
                </a:solidFill>
              </a:defRPr>
            </a:pPr>
            <a:r>
              <a:t>PRESENTER: HEMAMDHAR NATH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Can past sales predict demand when 90% of days are zeros?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100" b="1">
                <a:solidFill>
                  <a:srgbClr val="C26414"/>
                </a:solidFill>
              </a:defRPr>
            </a:pPr>
            <a:r>
              <a:t>THE TARGET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Daily Unit Demand (y_t)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Forecast daily unit sales for individual product-store SKUs across an untouched 28-day forward horizon.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83080"/>
            <a:ext cx="34290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100" b="1">
                <a:solidFill>
                  <a:srgbClr val="C26414"/>
                </a:solidFill>
              </a:defRPr>
            </a:pPr>
            <a:r>
              <a:t>THE CUTOFF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Strict 28-Day Horizon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Predictions originate at Day 1913. No actual sales from the 28-day validation period are ever consumed.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783080"/>
            <a:ext cx="34290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100" b="1">
                <a:solidFill>
                  <a:srgbClr val="C26414"/>
                </a:solidFill>
              </a:defRPr>
            </a:pPr>
            <a:r>
              <a:t>THE RULE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Zero-Leakage Rollout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Multi-step forecasts must be strictly causal (recursive or state-propagated). True sales cannot enter future lags.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698480" cy="109728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7432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CORE RESEARCH QUESTION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Does a localized state-space model (Kalman Filter per SKU) adapt faster than a global neural network (DeepAR) under severe retail intermittency, and which produces better uncertainty bounds for inventory safety stock?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Inventory Demand Forecasting · CSAI Project 5 · Team 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3276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02 ·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PRESENTER: HEMAMDHAR NATH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58.3 Million records, 1,941 daily timesteps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169164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SOURCE MATRIX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30,490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SKUs across 10 stores (CA, TX, WI)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83080"/>
            <a:ext cx="3429000" cy="169164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INTERMITTENCY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90.84%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Intermittent or lumpy sales regimes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783080"/>
            <a:ext cx="3429000" cy="169164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EVALUATION HORIZON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1,400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Untouched points (50 SKUs × 28 days)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9718499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90.84% Intermittent &amp; Lumpy (ADI ≥ 1.32 or CV² ≥ 0.49)              9.16% Smooth &amp; Erratic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Zero-sales observations on active shelf days are preserved as legitimate zero-demand observations rather than treated as missing data or imputed. 12.38 million pre-launch zeros are isolated via first-sale date indexing to ensure clean, uncorrupted demand signals.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Inventory Demand Forecasting · CSAI Project 5 · Team 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3276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26414"/>
                </a:solidFill>
              </a:defRPr>
            </a:pPr>
            <a:r>
              <a:t>02 ·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B82F6"/>
                </a:solidFill>
              </a:defRPr>
            </a:pPr>
            <a:r>
              <a:t>PRESENTER: HEMAMDHAR NATH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Weekend surges, holiday shocks, and SNAP policy pulses</a:t>
            </a:r>
          </a:p>
        </p:txBody>
      </p:sp>
      <p:pic>
        <p:nvPicPr>
          <p:cNvPr id="6" name="Picture 5" descr="04_seasonality_and_calendar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669280" cy="20247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828800"/>
            <a:ext cx="4754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350" b="1">
                <a:solidFill>
                  <a:srgbClr val="C26414"/>
                </a:solidFill>
              </a:defRPr>
            </a:pPr>
            <a:r>
              <a:t>+20.7% Weekend Surge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Saturday &amp; Sunday demand significantly outperforms weekday baseline across all categories. Autocorrelation confirms strong weekly harmonics at lags 7, 14, 21, and 28.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246120"/>
            <a:ext cx="4754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350" b="1">
                <a:solidFill>
                  <a:srgbClr val="C26414"/>
                </a:solidFill>
              </a:defRPr>
            </a:pPr>
            <a:r>
              <a:t>+21.31% SNAP Uplift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Government food stamp disbursement in Wisconsin creates sharp demand pulses (and +11.1% in Texas, +7.6% in California), concentrated heavily in the FOODS department.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663440"/>
            <a:ext cx="4754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350" b="1">
                <a:solidFill>
                  <a:srgbClr val="C26414"/>
                </a:solidFill>
              </a:defRPr>
            </a:pPr>
            <a:r>
              <a:t>Dec 25 Zero Sales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Total chain sales contract to 0 units every year on Christmas. Stationarity confirmed only after first-differencing (ADF test: t = -23.46, p &lt; 1e-6).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Inventory Demand Forecasting · CSAI Project 5 · Team 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3276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03 · THE LEAKAGE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PRESENTER: HARSHAKARTHIKEYA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The biggest trap in forecasting is future data leakage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83280" cy="3977639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THE GOLDEN RULE</a:t>
            </a:r>
          </a:p>
          <a:p>
            <a:pPr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Shift(1)</a:t>
            </a:r>
            <a:br/>
            <a:r>
              <a:t>Prior to Rolling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Computing rolling statistics using day t sales introduces direct target leakage. In naive setups this artificially inflates notebook scores by 40%+ while failing completely in production.</a:t>
            </a:r>
            <a:br/>
            <a:br/>
            <a:r>
              <a:t>Every rolling metric in our pipeline enforces a strict shift(1) operation.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83080"/>
            <a:ext cx="3383280" cy="3977639"/>
          </a:xfrm>
          <a:prstGeom prst="roundRect">
            <a:avLst/>
          </a:prstGeom>
          <a:solidFill>
            <a:srgbClr val="231419"/>
          </a:solidFill>
          <a:ln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BANNED IN PRODUCTION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✕  Unshifted rolling means (using day t)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✕  Consuming actual validation sales in the 28-day rollout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✕  Random temporal cross-validation shuffling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✕  Imputing missing values with global future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83080"/>
            <a:ext cx="3383280" cy="3977639"/>
          </a:xfrm>
          <a:prstGeom prst="roundRect">
            <a:avLst/>
          </a:prstGeom>
          <a:solidFill>
            <a:srgbClr val="0F1E1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ALLOWED &amp; ENFORCED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✓  Causal lags strictly from past: lag 1, 7, 28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✓  Shift(1) rolling mean &amp; std for 7 and 28 days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✓  Known future calendar &amp; SNAP indicators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✓  Pure recursive multi-step rollout using model's own predictions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Inventory Demand Forecasting · CSAI Project 5 · Team 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276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26414"/>
                </a:solidFill>
              </a:defRPr>
            </a:pPr>
            <a:r>
              <a:t>04 · THE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B82F6"/>
                </a:solidFill>
              </a:defRPr>
            </a:pPr>
            <a:r>
              <a:t>PRESENTER: HARSHAKARTHIKEYA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Causal lags, rolling statistics, and calendar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100" b="1">
                <a:solidFill>
                  <a:srgbClr val="C26414"/>
                </a:solidFill>
              </a:defRPr>
            </a:pPr>
            <a:r>
              <a:t>CATEGORICAL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Static Hierarchy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item_id, dept_id, cat_id, store_id, state_id preserved for multi-level hierarchical indexing and static entity embeddings.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8308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100" b="1">
                <a:solidFill>
                  <a:srgbClr val="C26414"/>
                </a:solidFill>
              </a:defRPr>
            </a:pPr>
            <a:r>
              <a:t>NUMERIC &amp; LAGS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Causal Autoregressive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lag_1, lag_7, lag_28, rolling_mean_7, rolling_mean_28, rolling_std_7, rolling_std_28 strictly computed via shift(1).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78308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100" b="1">
                <a:solidFill>
                  <a:srgbClr val="C26414"/>
                </a:solidFill>
              </a:defRPr>
            </a:pPr>
            <a:r>
              <a:t>CYCLICAL &amp; POLICY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Temporal &amp; Policy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day_sin, day_cos, month_sin, month_cos, is_weekend, holiday markers, and dynamic state-specific snap_active indicators.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698480" cy="155448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LEAK-FREE PREPROCESSING PIPELINE (FITTED ON TRAINING HISTORY ONLY)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754880"/>
            <a:ext cx="2377440" cy="914400"/>
          </a:xfrm>
          <a:prstGeom prst="roundRect">
            <a:avLst/>
          </a:prstGeom>
          <a:solidFill>
            <a:srgbClr val="1C2C4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 · Tidy Reshaping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Melt wide sales to long panel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4754880"/>
            <a:ext cx="2377440" cy="914400"/>
          </a:xfrm>
          <a:prstGeom prst="roundRect">
            <a:avLst/>
          </a:prstGeom>
          <a:solidFill>
            <a:srgbClr val="1C2C4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 · Date Reindexing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Verify daily continuity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754880"/>
            <a:ext cx="2377440" cy="914400"/>
          </a:xfrm>
          <a:prstGeom prst="roundRect">
            <a:avLst/>
          </a:prstGeom>
          <a:solidFill>
            <a:srgbClr val="1C2C4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 · Shift(1) Features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Causal lags &amp; rolling stats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754880"/>
            <a:ext cx="2377440" cy="914400"/>
          </a:xfrm>
          <a:prstGeom prst="roundRect">
            <a:avLst/>
          </a:prstGeom>
          <a:solidFill>
            <a:srgbClr val="1C2C4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 · Warmup Trimming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Drop uncomputable 28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Inventory Demand Forecasting · CSAI Project 5 · Team 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276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05 · AML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PRESENTER: HARSHAKARTHIKEYA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Seasonal-Naive vs Recursive LightGBM Multi-Step Rollout</a:t>
            </a:r>
          </a:p>
        </p:txBody>
      </p:sp>
      <p:pic>
        <p:nvPicPr>
          <p:cNvPr id="6" name="Picture 5" descr="10_baseline_aggrega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333838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828800"/>
            <a:ext cx="5212080" cy="192024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1 · SEASONAL-NAIVE (7-DAY PERSISTENCE)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</a:defRPr>
            </a:pPr>
            <a:r>
              <a:t>Formula: ŷ_{T+h} = y_{T+h-7} (repeats same weekday last week)</a:t>
            </a:r>
            <a:br/>
            <a:r>
              <a:t>Zero-parameter deterministic benchmark. Establishes baseline error floor:</a:t>
            </a:r>
            <a:br/>
            <a:r>
              <a:t>MAE: 1.1143 | RMSE: 2.6030 | WAPE: 95.59%.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192024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2 · GBDT (LIGHTGBM RECURSIVE ROLLOUT)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</a:defRPr>
            </a:pPr>
            <a:r>
              <a:t>100 boosted trees with strictly recursive multi-step forecasting.</a:t>
            </a:r>
            <a:br/>
            <a:r>
              <a:t>Top feature: rolling_mean_28 (12.82% importance), followed by rolling_mean_7.</a:t>
            </a:r>
            <a:br/>
            <a:r>
              <a:t>Achieves 14.64% reduction in WAPE over Seasonal-Naive (81.60%).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Inventory Demand Forecasting · CSAI Project 5 · Team 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276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26414"/>
                </a:solidFill>
              </a:defRPr>
            </a:pPr>
            <a:r>
              <a:t>06 · STATE-SPACE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B82F6"/>
                </a:solidFill>
              </a:defRPr>
            </a:pPr>
            <a:r>
              <a:t>PRESENTER: SAMEER ALAM KHAN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Structural Kalman Filter per SKU (Local Level + Seasonality)</a:t>
            </a:r>
          </a:p>
        </p:txBody>
      </p:sp>
      <p:pic>
        <p:nvPicPr>
          <p:cNvPr id="6" name="Picture 5" descr="13_kalman_aggregate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33363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82880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/>
          <a:lstStyle/>
          <a:p>
            <a:pPr algn="ctr">
              <a:defRPr sz="1100" b="1">
                <a:solidFill>
                  <a:srgbClr val="C26414"/>
                </a:solidFill>
              </a:defRPr>
            </a:pPr>
            <a:r>
              <a:t>MATHEMATICAL FORMULATION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State Vector: x_t = [μ_t, s_{1,t}, ..., s_{6,t}]ᵀ ∈ ℝ⁷</a:t>
            </a:r>
            <a:br/>
            <a:r>
              <a:t>Transition: x_t = F x_{t-1} + w_t,  w_t ~ N(0, Q)</a:t>
            </a:r>
            <a:br/>
            <a:r>
              <a:t>Observation: y_t = H x_t + v_t,  v_t ~ N(0, R)</a:t>
            </a:r>
            <a:br/>
            <a:r>
              <a:t>Tracks latent consumption level μ_t and 7-day cyclical harmonic in closed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BENCHMARK PERFORMANCE &amp; ANALYTICAL UNCERTAINTY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🏆 Lowest MAE (0.9333) and lowest WAPE (80.06%) across all models.</a:t>
            </a:r>
            <a:br/>
            <a:r>
              <a:t>Exact analytical covariance propagation P_t yields 80.93% coverage at 80% CI (width 2.30 units) and 90.07% at 95% CI.</a:t>
            </a:r>
            <a:br/>
            <a:r>
              <a:t>Adapts to individual SKU step-changes without recursive compounding.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Inventory Demand Forecasting · CSAI Project 5 · Team 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276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07 · PROBABILISTIC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PRESENTER: AKSHAY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Global DeepAR Autoregressive LSTM Network</a:t>
            </a:r>
          </a:p>
        </p:txBody>
      </p:sp>
      <p:pic>
        <p:nvPicPr>
          <p:cNvPr id="6" name="Picture 5" descr="deepar_foreca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33363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828800"/>
            <a:ext cx="5212080" cy="192024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UNIFIED GLOBAL RECURRENT ARCHITECTURE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Single LSTM network trained across all 50 SKUs simultaneously.</a:t>
            </a:r>
            <a:br/>
            <a:r>
              <a:t>Scale normalization: ν_i = 1 + (1/T) ∑ y_{i,t} ensures scale invariance.</a:t>
            </a:r>
            <a:br/>
            <a:r>
              <a:t>Outputs parameters of Gaussian likelihood: y_{i,t} ~ N(μ_{i,t} ν_i, (σ_{i,t} ν_i)²).</a:t>
            </a:r>
            <a:br/>
            <a:r>
              <a:t>Shares representations across sparse series via entity embeddings.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192024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MONTE CARLO QUANTILE ROLLOUT &amp; RMSE SUPREMACY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🏆 Lowest RMSE (2.2062) across all models (−15.24% vs baseline).</a:t>
            </a:r>
            <a:br/>
            <a:r>
              <a:t>200 Monte Carlo sample paths drawn autoregressively for empirical quantiles.</a:t>
            </a:r>
            <a:br/>
            <a:r>
              <a:t>80% Prediction Interval Coverage: 91.79% (width 3.20 units).</a:t>
            </a:r>
            <a:br/>
            <a:r>
              <a:t>Mean Pinball Loss: 0.3075 (P10: 0.1116, P50: 0.5208, P90: 0.3258).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Inventory Demand Forecasting · CSAI Project 5 · Team 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276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26414"/>
                </a:solidFill>
              </a:defRPr>
            </a:pPr>
            <a:r>
              <a:t>08 · THE FINAL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B82F6"/>
                </a:solidFill>
              </a:defRPr>
            </a:pPr>
            <a:r>
              <a:t>PRESENTER: ABHISHEK TRIPATHI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Four-Way Benchmark Scorecard &amp; Error Trade-Offs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 rIns="164592"/>
          <a:lstStyle/>
          <a:p>
            <a:pPr algn="ctr">
              <a:defRPr sz="950" b="1">
                <a:solidFill>
                  <a:srgbClr val="C26414"/>
                </a:solidFill>
              </a:defRPr>
            </a:pPr>
            <a:r>
              <a:t>MEAN ABSOLUTE ERROR (MAE)</a:t>
            </a:r>
          </a:p>
          <a:p>
            <a:pPr>
              <a:spcBef>
                <a:spcPts val="400"/>
              </a:spcBef>
              <a:defRPr sz="3000" b="1">
                <a:solidFill>
                  <a:srgbClr val="0F172A"/>
                </a:solidFill>
              </a:defRPr>
            </a:pPr>
            <a:r>
              <a:t>0.9333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</a:defRPr>
            </a:pPr>
            <a:r>
              <a:t>🏆 Kalman Filter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GBDT: 0.9512 | DeepAR: 0.9748 | SNaive: 1.1143</a:t>
            </a:r>
            <a:br/>
            <a:r>
              <a:t>16.25% lower error than baseline.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8308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 rIns="164592"/>
          <a:lstStyle/>
          <a:p>
            <a:pPr algn="ctr">
              <a:defRPr sz="950" b="1">
                <a:solidFill>
                  <a:srgbClr val="C26414"/>
                </a:solidFill>
              </a:defRPr>
            </a:pPr>
            <a:r>
              <a:t>ROOT MEAN SQ ERROR (RMSE)</a:t>
            </a:r>
          </a:p>
          <a:p>
            <a:pPr>
              <a:spcBef>
                <a:spcPts val="400"/>
              </a:spcBef>
              <a:defRPr sz="3000" b="1">
                <a:solidFill>
                  <a:srgbClr val="0F172A"/>
                </a:solidFill>
              </a:defRPr>
            </a:pPr>
            <a:r>
              <a:t>2.2062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</a:defRPr>
            </a:pPr>
            <a:r>
              <a:t>🏆 Global DeepAR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GBDT: 2.2679 | Kalman: 2.3303 | SNaive: 2.6030</a:t>
            </a:r>
            <a:br/>
            <a:r>
              <a:t>15.24% lower error than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8308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 rIns="164592"/>
          <a:lstStyle/>
          <a:p>
            <a:pPr algn="ctr">
              <a:defRPr sz="950" b="1">
                <a:solidFill>
                  <a:srgbClr val="C26414"/>
                </a:solidFill>
              </a:defRPr>
            </a:pPr>
            <a:r>
              <a:t>WEIGHTED ABS % ERROR (WAPE)</a:t>
            </a:r>
          </a:p>
          <a:p>
            <a:pPr>
              <a:spcBef>
                <a:spcPts val="400"/>
              </a:spcBef>
              <a:defRPr sz="3000" b="1">
                <a:solidFill>
                  <a:srgbClr val="0F172A"/>
                </a:solidFill>
              </a:defRPr>
            </a:pPr>
            <a:r>
              <a:t>80.06%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</a:defRPr>
            </a:pPr>
            <a:r>
              <a:t>🏆 Kalman Filter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GBDT: 81.60% | DeepAR: 83.63% | SNaive: 95.59%</a:t>
            </a:r>
            <a:br/>
            <a:r>
              <a:t>Lowest overall portfolio error.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78308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 rIns="164592"/>
          <a:lstStyle/>
          <a:p>
            <a:pPr algn="ctr">
              <a:defRPr sz="950" b="1">
                <a:solidFill>
                  <a:srgbClr val="C26414"/>
                </a:solidFill>
              </a:defRPr>
            </a:pPr>
            <a:r>
              <a:t>80% INTERVAL COVERAGE</a:t>
            </a:r>
          </a:p>
          <a:p>
            <a:pPr>
              <a:spcBef>
                <a:spcPts val="400"/>
              </a:spcBef>
              <a:defRPr sz="3000" b="1">
                <a:solidFill>
                  <a:srgbClr val="0F172A"/>
                </a:solidFill>
              </a:defRPr>
            </a:pPr>
            <a:r>
              <a:t>91.79%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</a:defRPr>
            </a:pPr>
            <a:r>
              <a:t>🏆 Global DeepAR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Pinball loss: 0.3075 (width 3.20)</a:t>
            </a:r>
            <a:br/>
            <a:r>
              <a:t>Kalman: 80.93% coverage (width 2.30).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/>
          <a:lstStyle/>
          <a:p>
            <a:pPr algn="ctr">
              <a:defRPr sz="1100" b="1">
                <a:solidFill>
                  <a:srgbClr val="C26414"/>
                </a:solidFill>
              </a:defRPr>
            </a:pPr>
            <a:r>
              <a:t>WHY KALMAN FILTER WON MAE &amp; WAPE (SAMEER'S MODEL)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Structural decomposition into local level and 7-day seasonality updates per SKU in closed form. It avoids recursive error compounding and adapts instantly to individual product step-changes without cross-series distortion.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16052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WHY GLOBAL DEEPAR WON RMSE (AKSHAY'S MODEL)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DeepAR's shared recurrent representation across 50 SKUs pools statistical strength. This acts as a strong regularizer that severely penalizes extreme outlier forecasts, achieving the lowest quadratic loss.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Inventory Demand Forecasting · CSAI Project 5 · Team 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3276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09 · 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</a:defRPr>
            </a:pPr>
            <a:r>
              <a:t>PRESENTERS: ALL 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No single model dominates: Align model with inventory goal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57800" cy="315468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OPERATIONAL DECISION RULES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Routine Daily Replenishment: Kalman Filter: Lowest absolute units off-target (0.9333 MAE) and lightweight per-SKU execution.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Safety Stock &amp; Risk Mitigation: Global DeepAR: Calibrated prediction intervals (91.8% at 80% CI) protect against expensive stockout spikes.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Fast Tabular Operations: LightGBM: Fast training, handles tabular calendar features well, highly interpretable via feature importance.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257800" cy="315468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LIMITATIONS &amp; FUTURE HORIZONS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Evaluation Scale: Tested on 50 representative series; next phase scales to all 30,490 SKUs.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DeepAR Interval Sharpness: 80% CI coverage reached 91.79%, indicating conservative intervals that can be tightened with hyperparameter tuning.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Hybrid Architecture: Future work: Feed Kalman Filter latent states (μ_t, s_t) directly as features into DeepAR to combine local tracking with global sequence learning.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698480" cy="914400"/>
          </a:xfrm>
          <a:prstGeom prst="roundRect">
            <a:avLst/>
          </a:prstGeom>
          <a:solidFill>
            <a:srgbClr val="121E36"/>
          </a:solidFill>
          <a:ln>
            <a:solidFill>
              <a:srgbClr val="23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7432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FINAL VERDICT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Kalman Filter minimizes average units lost; Global DeepAR mitigates extreme inventory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Inventory Demand Forecasting · CSAI Project 5 · Team 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276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